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706"/>
  </p:normalViewPr>
  <p:slideViewPr>
    <p:cSldViewPr snapToGrid="0">
      <p:cViewPr>
        <p:scale>
          <a:sx n="99" d="100"/>
          <a:sy n="99" d="100"/>
        </p:scale>
        <p:origin x="8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Atklājiet prezentāciju ar projekta mērķi: palīdzēt B kategorijas vadītājiem mācīties un pārbaudīt zināšanas.</a:t>
            </a:r>
          </a:p>
          <a:p>
            <a:r>
              <a:t>Avots: lietotāja iesniegtais vietnes sākumlapas ekrānattēls.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Saistiet risinājumu ar uzdevumu: izglītojamie izstrādā un demonstrē digitālu prototipu.</a:t>
            </a:r>
          </a:p>
          <a:p>
            <a:r>
              <a:t>Vietnes nolūks un atbilžu/treniņa režīmi aprakstīti projektā README un redzami lietotāja ekrānattēlā.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Parādiet meklēšanas lauku, attēlu/video filtrus un jautājumu kartītes.</a:t>
            </a:r>
          </a:p>
          <a:p>
            <a:r>
              <a:t>Ekrānattēlā skaitītājs rāda 113 jautājumus, no tiem 12 redzami pašreizējā skatā.</a:t>
            </a:r>
          </a:p>
          <a:p>
            <a:r>
              <a:t>Avots: lietotāja iesniegtais jautājumu bibliotēkas ekrānattēls; funkcijas aprakstītas solver/README.md un solver/src/App.jsx.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Paskaidrojiet, ka Git nodrošina versiju vēsturi un repo redzamie commit ir projekta darba pēdas; ekrānattēlā redzami 24 commit un 2 līdzautori.</a:t>
            </a:r>
          </a:p>
          <a:p>
            <a:r>
              <a:t>README apraksta palaišanu un funkcijas. Testu faili aptver UI, serveri, autentifikāciju, darba rindas un kolektoru.</a:t>
            </a:r>
          </a:p>
          <a:p>
            <a:r>
              <a:t>Drošība: README norāda, ka datu ievākšanai vajadzīga administratora sesija; atbilde netiek atzīmēta pareiza, kamēr nav pārbaudīta pret CSDD pārskata lapu.</a:t>
            </a:r>
          </a:p>
          <a:p>
            <a:r>
              <a:t>Avoti: README.md, solver/README.md, solver/src/components/QuestionCard.jsx, solver/api.py.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Azure ekrānattēls apliecina csn-solver virtuālās mašīnas statusu Running un norāda Ubuntu 24.04, 2 vCPU, 1 GiB RAM un Sweden Central.</a:t>
            </a:r>
          </a:p>
          <a:p>
            <a:r>
              <a:t>Ekrānattēlā redzamais izveides datums ir 15.10.2026 (UTC).</a:t>
            </a:r>
          </a:p>
          <a:p>
            <a:r>
              <a:t>Ekrānattēla apgriezums izslēdz konta e-pastu un abonementa ID. Tas apliecina VM stāvokli attēla uzņemšanas brīdī, nevis pašreizēju pieejamību.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Noslēdziet ar īsu vietnes demonstrāciju. 3. darbībā pareizās/incorrectās izvēles uzvedība redzama jautājuma kartītē; atbilžu izvēle ir pieejama verificētiem jautājumiem.</a:t>
            </a:r>
          </a:p>
          <a:p>
            <a:r>
              <a:t>Šī secība ir ieteikums prezentētājam, nevis apgalvojums, ka tieši šāds demos jau ir veikts.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8D328EB-F862-48AB-8A03-A5858A72C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CF367FC-BFCF-4671-B7E5-0E1F11C5A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B251A59-AE78-4462-94BC-9A85CBA4F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8AD2AF-0403-4D1F-8B20-8C22EF14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60B55B9-E98B-426E-BD0F-D8057776B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1219851-0113-47DF-801E-D8F7896C0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B7FD4AC-1F09-4E2C-BBF4-F9756F6BD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3D406D5-A840-4425-B31E-FDA727D26D6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BCB797-3D4F-4CF8-A215-BE7DC2418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9EC05D6-7AA9-4B2F-BE71-FBEFFE3DB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ver-red-mark">
            <a:extLst>
              <a:ext uri="{FF2B5EF4-FFF2-40B4-BE49-F238E27FC236}">
                <a16:creationId xmlns:a16="http://schemas.microsoft.com/office/drawing/2014/main" id="{3F862F88-D9B9-45B5-8EF6-36FEF542516D}"/>
              </a:ext>
            </a:extLst>
          </p:cNvPr>
          <p:cNvSpPr>
            <a:spLocks noGrp="1"/>
          </p:cNvSpPr>
          <p:nvPr/>
        </p:nvSpPr>
        <p:spPr>
          <a:xfrm>
            <a:off x="704850" y="819150"/>
            <a:ext cx="685800" cy="95250"/>
          </a:xfrm>
          <a:prstGeom prst="rect">
            <a:avLst/>
          </a:prstGeom>
          <a:solidFill>
            <a:srgbClr val="E32D2B"/>
          </a:solidFill>
          <a:ln w="0">
            <a:noFill/>
            <a:prstDash val="solid"/>
          </a:ln>
        </p:spPr>
        <p:txBody>
          <a:bodyPr/>
          <a:lstStyle/>
          <a:p>
            <a:endParaRPr lang="en-LV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2E113844-4D1E-44BA-9FE2-AC2CCD39143F}"/>
              </a:ext>
            </a:extLst>
          </p:cNvPr>
          <p:cNvSpPr>
            <a:spLocks noGrp="1"/>
          </p:cNvSpPr>
          <p:nvPr/>
        </p:nvSpPr>
        <p:spPr>
          <a:xfrm>
            <a:off x="704850" y="1143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FC7FF"/>
                </a:solidFill>
                <a:latin typeface="Arial"/>
                <a:ea typeface="Arial"/>
                <a:cs typeface="Arial"/>
              </a:rPr>
              <a:t>PROJEKTU NEDĒĻA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5FE141FB-87E3-41A1-A444-EAAEDDE1A119}"/>
              </a:ext>
            </a:extLst>
          </p:cNvPr>
          <p:cNvSpPr>
            <a:spLocks noGrp="1"/>
          </p:cNvSpPr>
          <p:nvPr/>
        </p:nvSpPr>
        <p:spPr>
          <a:xfrm>
            <a:off x="704850" y="1771650"/>
            <a:ext cx="4476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CSDD teorija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2D7E993A-8F1A-401D-A95D-565A3CFD776B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419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>
                <a:solidFill>
                  <a:srgbClr val="D8E2F3"/>
                </a:solidFill>
                <a:latin typeface="Arial"/>
                <a:ea typeface="Arial"/>
                <a:cs typeface="Arial"/>
              </a:defRPr>
            </a:pPr>
            <a:r>
              <a:rPr sz="1950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Digitāls</a:t>
            </a:r>
            <a:r>
              <a:rPr sz="1950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palīgs</a:t>
            </a:r>
            <a:r>
              <a:rPr sz="1950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 B </a:t>
            </a:r>
            <a:r>
              <a:rPr sz="1950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kategorijas</a:t>
            </a:r>
            <a:r>
              <a:rPr sz="1950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teorijas</a:t>
            </a:r>
            <a:r>
              <a:rPr sz="1950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apguvei</a:t>
            </a:r>
            <a:endParaRPr sz="1950" dirty="0">
              <a:solidFill>
                <a:srgbClr val="D8E2F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DC8DA-19C8-4B21-882D-DFBE3B5FCE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9" r="2599"/>
          <a:stretch>
            <a:fillRect/>
          </a:stretch>
        </p:blipFill>
        <p:spPr>
          <a:xfrm>
            <a:off x="5429250" y="1352550"/>
            <a:ext cx="6096000" cy="3810000"/>
          </a:xfrm>
          <a:prstGeom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4521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2-title">
            <a:extLst>
              <a:ext uri="{FF2B5EF4-FFF2-40B4-BE49-F238E27FC236}">
                <a16:creationId xmlns:a16="http://schemas.microsoft.com/office/drawing/2014/main" id="{3E2F9360-B3A4-4F59-8562-9E2E7FDA68A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Mācību mērķis</a:t>
            </a:r>
          </a:p>
        </p:txBody>
      </p:sp>
      <p:sp>
        <p:nvSpPr>
          <p:cNvPr id="2" name="slide-2-accent">
            <a:extLst>
              <a:ext uri="{FF2B5EF4-FFF2-40B4-BE49-F238E27FC236}">
                <a16:creationId xmlns:a16="http://schemas.microsoft.com/office/drawing/2014/main" id="{9604C0B4-503D-4633-9D50-E07169CF5D5C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609600" cy="47625"/>
          </a:xfrm>
          <a:prstGeom prst="rect">
            <a:avLst/>
          </a:prstGeom>
          <a:solidFill>
            <a:srgbClr val="2B63E5"/>
          </a:solidFill>
          <a:ln w="0">
            <a:noFill/>
            <a:prstDash val="solid"/>
          </a:ln>
        </p:spPr>
        <p:txBody>
          <a:bodyPr/>
          <a:lstStyle/>
          <a:p>
            <a:endParaRPr lang="en-LV"/>
          </a:p>
        </p:txBody>
      </p:sp>
      <p:sp>
        <p:nvSpPr>
          <p:cNvPr id="3" name="slide-2-number">
            <a:extLst>
              <a:ext uri="{FF2B5EF4-FFF2-40B4-BE49-F238E27FC236}">
                <a16:creationId xmlns:a16="http://schemas.microsoft.com/office/drawing/2014/main" id="{51FD079E-C13F-4DBE-B6D6-0CC9DCC84124}"/>
              </a:ext>
            </a:extLst>
          </p:cNvPr>
          <p:cNvSpPr>
            <a:spLocks noGrp="1"/>
          </p:cNvSpPr>
          <p:nvPr/>
        </p:nvSpPr>
        <p:spPr>
          <a:xfrm>
            <a:off x="11049000" y="4762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48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goal-statement">
            <a:extLst>
              <a:ext uri="{FF2B5EF4-FFF2-40B4-BE49-F238E27FC236}">
                <a16:creationId xmlns:a16="http://schemas.microsoft.com/office/drawing/2014/main" id="{78707301-ED8D-460B-9949-2E000592B7A7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5810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Vienā vietā atkārtot teoriju un pārbaudīt savas zināšanas.</a:t>
            </a:r>
          </a:p>
        </p:txBody>
      </p:sp>
      <p:sp>
        <p:nvSpPr>
          <p:cNvPr id="5" name="goal-divider">
            <a:extLst>
              <a:ext uri="{FF2B5EF4-FFF2-40B4-BE49-F238E27FC236}">
                <a16:creationId xmlns:a16="http://schemas.microsoft.com/office/drawing/2014/main" id="{336E21B1-5CCA-4C1D-B279-F03CF3E33B00}"/>
              </a:ext>
            </a:extLst>
          </p:cNvPr>
          <p:cNvSpPr>
            <a:spLocks noGrp="1"/>
          </p:cNvSpPr>
          <p:nvPr/>
        </p:nvSpPr>
        <p:spPr>
          <a:xfrm>
            <a:off x="6991350" y="1676400"/>
            <a:ext cx="38100" cy="3238500"/>
          </a:xfrm>
          <a:prstGeom prst="rect">
            <a:avLst/>
          </a:prstGeom>
          <a:solidFill>
            <a:srgbClr val="2B63E5"/>
          </a:solidFill>
          <a:ln w="0">
            <a:noFill/>
            <a:prstDash val="solid"/>
          </a:ln>
        </p:spPr>
        <p:txBody>
          <a:bodyPr/>
          <a:lstStyle/>
          <a:p>
            <a:endParaRPr lang="en-LV"/>
          </a:p>
        </p:txBody>
      </p:sp>
      <p:sp>
        <p:nvSpPr>
          <p:cNvPr id="6" name="goal-label">
            <a:extLst>
              <a:ext uri="{FF2B5EF4-FFF2-40B4-BE49-F238E27FC236}">
                <a16:creationId xmlns:a16="http://schemas.microsoft.com/office/drawing/2014/main" id="{9FFDCE3E-5DD7-4413-81E7-91D4CE47CC0E}"/>
              </a:ext>
            </a:extLst>
          </p:cNvPr>
          <p:cNvSpPr>
            <a:spLocks noGrp="1"/>
          </p:cNvSpPr>
          <p:nvPr/>
        </p:nvSpPr>
        <p:spPr>
          <a:xfrm>
            <a:off x="7372350" y="17240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2B63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B63E5"/>
                </a:solidFill>
                <a:latin typeface="Arial"/>
                <a:ea typeface="Arial"/>
                <a:cs typeface="Arial"/>
              </a:rPr>
              <a:t>RISINĀJUMS</a:t>
            </a:r>
          </a:p>
        </p:txBody>
      </p:sp>
      <p:sp>
        <p:nvSpPr>
          <p:cNvPr id="7" name="goal-detail">
            <a:extLst>
              <a:ext uri="{FF2B5EF4-FFF2-40B4-BE49-F238E27FC236}">
                <a16:creationId xmlns:a16="http://schemas.microsoft.com/office/drawing/2014/main" id="{F4F40571-308E-4ED2-820D-C7CFBB70F298}"/>
              </a:ext>
            </a:extLst>
          </p:cNvPr>
          <p:cNvSpPr>
            <a:spLocks noGrp="1"/>
          </p:cNvSpPr>
          <p:nvPr/>
        </p:nvSpPr>
        <p:spPr>
          <a:xfrm>
            <a:off x="7372350" y="2133600"/>
            <a:ext cx="38100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33D"/>
                </a:solidFill>
                <a:latin typeface="Arial"/>
                <a:ea typeface="Arial"/>
                <a:cs typeface="Arial"/>
              </a:rPr>
              <a:t>Jautājumu bibliotēka ar pārbaudītām atbildēm un treniņrežīmu ļauj mācīties savā tempā.</a:t>
            </a:r>
          </a:p>
        </p:txBody>
      </p:sp>
      <p:sp>
        <p:nvSpPr>
          <p:cNvPr id="8" name="goal-criterion">
            <a:extLst>
              <a:ext uri="{FF2B5EF4-FFF2-40B4-BE49-F238E27FC236}">
                <a16:creationId xmlns:a16="http://schemas.microsoft.com/office/drawing/2014/main" id="{41146B7B-B916-4FAA-8823-CD2777F387E8}"/>
              </a:ext>
            </a:extLst>
          </p:cNvPr>
          <p:cNvSpPr>
            <a:spLocks noGrp="1"/>
          </p:cNvSpPr>
          <p:nvPr/>
        </p:nvSpPr>
        <p:spPr>
          <a:xfrm>
            <a:off x="7372350" y="4105275"/>
            <a:ext cx="3790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3748E"/>
                </a:solidFill>
                <a:latin typeface="Arial"/>
                <a:ea typeface="Arial"/>
                <a:cs typeface="Arial"/>
              </a:rPr>
              <a:t>Prototips risina konkrētu vajadzību: sagatavoties CSDD B kategorijas teorijas eksāmenam.</a:t>
            </a:r>
          </a:p>
        </p:txBody>
      </p:sp>
    </p:spTree>
    <p:extLst>
      <p:ext uri="{BB962C8B-B14F-4D97-AF65-F5344CB8AC3E}">
        <p14:creationId xmlns:p14="http://schemas.microsoft.com/office/powerpoint/2010/main" val="1145710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3-title">
            <a:extLst>
              <a:ext uri="{FF2B5EF4-FFF2-40B4-BE49-F238E27FC236}">
                <a16:creationId xmlns:a16="http://schemas.microsoft.com/office/drawing/2014/main" id="{3B2ACB97-62E0-46C1-AE12-81A50AD1245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Jautājumu bibliotēka</a:t>
            </a:r>
          </a:p>
        </p:txBody>
      </p:sp>
      <p:sp>
        <p:nvSpPr>
          <p:cNvPr id="2" name="slide-3-accent">
            <a:extLst>
              <a:ext uri="{FF2B5EF4-FFF2-40B4-BE49-F238E27FC236}">
                <a16:creationId xmlns:a16="http://schemas.microsoft.com/office/drawing/2014/main" id="{6BC88660-E1B5-44B9-8AF4-EDAEF92C11DE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609600" cy="47625"/>
          </a:xfrm>
          <a:prstGeom prst="rect">
            <a:avLst/>
          </a:prstGeom>
          <a:solidFill>
            <a:srgbClr val="2B63E5"/>
          </a:solidFill>
          <a:ln w="0">
            <a:noFill/>
            <a:prstDash val="solid"/>
          </a:ln>
        </p:spPr>
        <p:txBody>
          <a:bodyPr/>
          <a:lstStyle/>
          <a:p>
            <a:endParaRPr lang="en-LV"/>
          </a:p>
        </p:txBody>
      </p:sp>
      <p:sp>
        <p:nvSpPr>
          <p:cNvPr id="3" name="slide-3-number">
            <a:extLst>
              <a:ext uri="{FF2B5EF4-FFF2-40B4-BE49-F238E27FC236}">
                <a16:creationId xmlns:a16="http://schemas.microsoft.com/office/drawing/2014/main" id="{7E93A0C8-469D-4C8B-9AC6-50C22C5DBB75}"/>
              </a:ext>
            </a:extLst>
          </p:cNvPr>
          <p:cNvSpPr>
            <a:spLocks noGrp="1"/>
          </p:cNvSpPr>
          <p:nvPr/>
        </p:nvSpPr>
        <p:spPr>
          <a:xfrm>
            <a:off x="11049000" y="4762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48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library-lede">
            <a:extLst>
              <a:ext uri="{FF2B5EF4-FFF2-40B4-BE49-F238E27FC236}">
                <a16:creationId xmlns:a16="http://schemas.microsoft.com/office/drawing/2014/main" id="{86013966-C322-4193-99DF-5464B61F89B0}"/>
              </a:ext>
            </a:extLst>
          </p:cNvPr>
          <p:cNvSpPr>
            <a:spLocks noGrp="1"/>
          </p:cNvSpPr>
          <p:nvPr/>
        </p:nvSpPr>
        <p:spPr>
          <a:xfrm>
            <a:off x="685800" y="1609725"/>
            <a:ext cx="342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Meklē, izlasi un pārbaudi sevi.</a:t>
            </a:r>
          </a:p>
        </p:txBody>
      </p:sp>
      <p:sp>
        <p:nvSpPr>
          <p:cNvPr id="5" name="library-detail-1">
            <a:extLst>
              <a:ext uri="{FF2B5EF4-FFF2-40B4-BE49-F238E27FC236}">
                <a16:creationId xmlns:a16="http://schemas.microsoft.com/office/drawing/2014/main" id="{D0A6612D-22D0-40F8-AE8C-1A3295456E3D}"/>
              </a:ext>
            </a:extLst>
          </p:cNvPr>
          <p:cNvSpPr>
            <a:spLocks noGrp="1"/>
          </p:cNvSpPr>
          <p:nvPr/>
        </p:nvSpPr>
        <p:spPr>
          <a:xfrm>
            <a:off x="685800" y="2676525"/>
            <a:ext cx="333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233D"/>
                </a:solidFill>
                <a:latin typeface="Arial"/>
                <a:ea typeface="Arial"/>
                <a:cs typeface="Arial"/>
              </a:rPr>
              <a:t>Atbildes režīmā redzamas CSDD pārbaudītās atbildes.</a:t>
            </a:r>
          </a:p>
        </p:txBody>
      </p:sp>
      <p:sp>
        <p:nvSpPr>
          <p:cNvPr id="6" name="library-detail-2">
            <a:extLst>
              <a:ext uri="{FF2B5EF4-FFF2-40B4-BE49-F238E27FC236}">
                <a16:creationId xmlns:a16="http://schemas.microsoft.com/office/drawing/2014/main" id="{C0458A78-0797-4012-A9B0-6295F2B4C240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3333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233D"/>
                </a:solidFill>
                <a:latin typeface="Arial"/>
                <a:ea typeface="Arial"/>
                <a:cs typeface="Arial"/>
              </a:rPr>
              <a:t>Treniņrežīmā izvēlies atbildi pats; pareizā atbilde atklājas pēc izvēles.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39E8DF-DA43-4656-9E01-3BAF60398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691368"/>
            <a:ext cx="6934200" cy="4103914"/>
          </a:xfrm>
          <a:prstGeom prst="roundRect">
            <a:avLst>
              <a:gd name="adj" fmla="val 2778"/>
            </a:avLst>
          </a:prstGeom>
        </p:spPr>
      </p:pic>
    </p:spTree>
    <p:extLst>
      <p:ext uri="{BB962C8B-B14F-4D97-AF65-F5344CB8AC3E}">
        <p14:creationId xmlns:p14="http://schemas.microsoft.com/office/powerpoint/2010/main" val="183762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4-title">
            <a:extLst>
              <a:ext uri="{FF2B5EF4-FFF2-40B4-BE49-F238E27FC236}">
                <a16:creationId xmlns:a16="http://schemas.microsoft.com/office/drawing/2014/main" id="{40001E48-F871-42AC-BA29-60494EF3D22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Izstrāde, pārbaudes un drošība</a:t>
            </a:r>
          </a:p>
        </p:txBody>
      </p:sp>
      <p:sp>
        <p:nvSpPr>
          <p:cNvPr id="2" name="slide-4-accent">
            <a:extLst>
              <a:ext uri="{FF2B5EF4-FFF2-40B4-BE49-F238E27FC236}">
                <a16:creationId xmlns:a16="http://schemas.microsoft.com/office/drawing/2014/main" id="{A8026A75-7ECD-45D0-B349-04954565702A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609600" cy="47625"/>
          </a:xfrm>
          <a:prstGeom prst="rect">
            <a:avLst/>
          </a:prstGeom>
          <a:solidFill>
            <a:srgbClr val="2B63E5"/>
          </a:solidFill>
          <a:ln w="0">
            <a:noFill/>
            <a:prstDash val="solid"/>
          </a:ln>
        </p:spPr>
        <p:txBody>
          <a:bodyPr/>
          <a:lstStyle/>
          <a:p>
            <a:endParaRPr lang="en-LV"/>
          </a:p>
        </p:txBody>
      </p:sp>
      <p:sp>
        <p:nvSpPr>
          <p:cNvPr id="3" name="slide-4-number">
            <a:extLst>
              <a:ext uri="{FF2B5EF4-FFF2-40B4-BE49-F238E27FC236}">
                <a16:creationId xmlns:a16="http://schemas.microsoft.com/office/drawing/2014/main" id="{C9BC1CA8-15C2-4C3E-B3CE-4FCF2093BFB1}"/>
              </a:ext>
            </a:extLst>
          </p:cNvPr>
          <p:cNvSpPr>
            <a:spLocks noGrp="1"/>
          </p:cNvSpPr>
          <p:nvPr/>
        </p:nvSpPr>
        <p:spPr>
          <a:xfrm>
            <a:off x="11049000" y="4762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48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23DB3D-10F4-4C12-940B-734A67D79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73898"/>
            <a:ext cx="5981700" cy="3548328"/>
          </a:xfrm>
          <a:prstGeom prst="roundRect">
            <a:avLst>
              <a:gd name="adj" fmla="val 2963"/>
            </a:avLst>
          </a:prstGeom>
        </p:spPr>
      </p:pic>
      <p:sp>
        <p:nvSpPr>
          <p:cNvPr id="6" name="engineering-lede">
            <a:extLst>
              <a:ext uri="{FF2B5EF4-FFF2-40B4-BE49-F238E27FC236}">
                <a16:creationId xmlns:a16="http://schemas.microsoft.com/office/drawing/2014/main" id="{BC0064E0-6FE0-48BC-B42B-1E6D030E1D45}"/>
              </a:ext>
            </a:extLst>
          </p:cNvPr>
          <p:cNvSpPr>
            <a:spLocks noGrp="1"/>
          </p:cNvSpPr>
          <p:nvPr/>
        </p:nvSpPr>
        <p:spPr>
          <a:xfrm>
            <a:off x="7181850" y="1666875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Pārbaudāms darba process</a:t>
            </a:r>
          </a:p>
        </p:txBody>
      </p:sp>
      <p:sp>
        <p:nvSpPr>
          <p:cNvPr id="7" name="engineering-list">
            <a:extLst>
              <a:ext uri="{FF2B5EF4-FFF2-40B4-BE49-F238E27FC236}">
                <a16:creationId xmlns:a16="http://schemas.microsoft.com/office/drawing/2014/main" id="{22F1817B-3B70-4938-B39E-2A526DE2A196}"/>
              </a:ext>
            </a:extLst>
          </p:cNvPr>
          <p:cNvSpPr>
            <a:spLocks noGrp="1"/>
          </p:cNvSpPr>
          <p:nvPr/>
        </p:nvSpPr>
        <p:spPr>
          <a:xfrm>
            <a:off x="7181850" y="2381250"/>
            <a:ext cx="4191000" cy="319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D"/>
                </a:solidFill>
                <a:latin typeface="Arial"/>
                <a:ea typeface="Arial"/>
                <a:cs typeface="Arial"/>
              </a:rPr>
              <a:t>• Kods un projekta vēsture glabājas GitHub.</a:t>
            </a:r>
          </a:p>
          <a:p>
            <a:endParaRPr sz="1425">
              <a:solidFill>
                <a:srgbClr val="15233D"/>
              </a:solidFill>
              <a:latin typeface="Arial"/>
              <a:ea typeface="Arial"/>
              <a:cs typeface="Arial"/>
            </a:endParaRPr>
          </a:p>
          <a:p>
            <a: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D"/>
                </a:solidFill>
                <a:latin typeface="Arial"/>
                <a:ea typeface="Arial"/>
                <a:cs typeface="Arial"/>
              </a:rPr>
              <a:t>• README apraksta palaišanu un funkcijas.</a:t>
            </a:r>
          </a:p>
          <a:p>
            <a:endParaRPr sz="1425">
              <a:solidFill>
                <a:srgbClr val="15233D"/>
              </a:solidFill>
              <a:latin typeface="Arial"/>
              <a:ea typeface="Arial"/>
              <a:cs typeface="Arial"/>
            </a:endParaRPr>
          </a:p>
          <a:p>
            <a: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D"/>
                </a:solidFill>
                <a:latin typeface="Arial"/>
                <a:ea typeface="Arial"/>
                <a:cs typeface="Arial"/>
              </a:rPr>
              <a:t>• Testu faili aptver saskarni, serveri, kontus un kolektoru.</a:t>
            </a:r>
          </a:p>
          <a:p>
            <a:endParaRPr sz="1425">
              <a:solidFill>
                <a:srgbClr val="15233D"/>
              </a:solidFill>
              <a:latin typeface="Arial"/>
              <a:ea typeface="Arial"/>
              <a:cs typeface="Arial"/>
            </a:endParaRPr>
          </a:p>
          <a:p>
            <a:pPr>
              <a:defRPr sz="1425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233D"/>
                </a:solidFill>
                <a:latin typeface="Arial"/>
                <a:ea typeface="Arial"/>
                <a:cs typeface="Arial"/>
              </a:rPr>
              <a:t>• Pareiza atbilde tiek rādīta tikai pēc pārbaudes CSDD.</a:t>
            </a:r>
          </a:p>
        </p:txBody>
      </p:sp>
    </p:spTree>
    <p:extLst>
      <p:ext uri="{BB962C8B-B14F-4D97-AF65-F5344CB8AC3E}">
        <p14:creationId xmlns:p14="http://schemas.microsoft.com/office/powerpoint/2010/main" val="1812039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5-title">
            <a:extLst>
              <a:ext uri="{FF2B5EF4-FFF2-40B4-BE49-F238E27FC236}">
                <a16:creationId xmlns:a16="http://schemas.microsoft.com/office/drawing/2014/main" id="{B0AFB94A-1E0B-4A99-9A3A-A141CBC161F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850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Palaišana Azure vidē</a:t>
            </a:r>
          </a:p>
        </p:txBody>
      </p:sp>
      <p:sp>
        <p:nvSpPr>
          <p:cNvPr id="2" name="slide-5-accent">
            <a:extLst>
              <a:ext uri="{FF2B5EF4-FFF2-40B4-BE49-F238E27FC236}">
                <a16:creationId xmlns:a16="http://schemas.microsoft.com/office/drawing/2014/main" id="{8755AE98-5F03-458D-8BC1-800BEEB3D28F}"/>
              </a:ext>
            </a:extLst>
          </p:cNvPr>
          <p:cNvSpPr>
            <a:spLocks noGrp="1"/>
          </p:cNvSpPr>
          <p:nvPr/>
        </p:nvSpPr>
        <p:spPr>
          <a:xfrm>
            <a:off x="685800" y="1152525"/>
            <a:ext cx="609600" cy="47625"/>
          </a:xfrm>
          <a:prstGeom prst="rect">
            <a:avLst/>
          </a:prstGeom>
          <a:solidFill>
            <a:srgbClr val="2B63E5"/>
          </a:solidFill>
          <a:ln w="0">
            <a:noFill/>
            <a:prstDash val="solid"/>
          </a:ln>
        </p:spPr>
        <p:txBody>
          <a:bodyPr/>
          <a:lstStyle/>
          <a:p>
            <a:endParaRPr lang="en-LV"/>
          </a:p>
        </p:txBody>
      </p:sp>
      <p:sp>
        <p:nvSpPr>
          <p:cNvPr id="3" name="slide-5-number">
            <a:extLst>
              <a:ext uri="{FF2B5EF4-FFF2-40B4-BE49-F238E27FC236}">
                <a16:creationId xmlns:a16="http://schemas.microsoft.com/office/drawing/2014/main" id="{651138D7-F425-44AF-96E4-21E3CF7E0A45}"/>
              </a:ext>
            </a:extLst>
          </p:cNvPr>
          <p:cNvSpPr>
            <a:spLocks noGrp="1"/>
          </p:cNvSpPr>
          <p:nvPr/>
        </p:nvSpPr>
        <p:spPr>
          <a:xfrm>
            <a:off x="11049000" y="4762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1">
                <a:solidFill>
                  <a:srgbClr val="6374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48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azure-lede">
            <a:extLst>
              <a:ext uri="{FF2B5EF4-FFF2-40B4-BE49-F238E27FC236}">
                <a16:creationId xmlns:a16="http://schemas.microsoft.com/office/drawing/2014/main" id="{EA401D59-8CE2-48C2-ADDC-EC94523B884F}"/>
              </a:ext>
            </a:extLst>
          </p:cNvPr>
          <p:cNvSpPr>
            <a:spLocks noGrp="1"/>
          </p:cNvSpPr>
          <p:nvPr/>
        </p:nvSpPr>
        <p:spPr>
          <a:xfrm>
            <a:off x="685800" y="1609725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426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64A"/>
                </a:solidFill>
                <a:latin typeface="Arial"/>
                <a:ea typeface="Arial"/>
                <a:cs typeface="Arial"/>
              </a:rPr>
              <a:t>Azure ekrānattēlā redzama palaista virtuālā mašīna.</a:t>
            </a:r>
          </a:p>
        </p:txBody>
      </p:sp>
      <p:sp>
        <p:nvSpPr>
          <p:cNvPr id="5" name="azure-facts">
            <a:extLst>
              <a:ext uri="{FF2B5EF4-FFF2-40B4-BE49-F238E27FC236}">
                <a16:creationId xmlns:a16="http://schemas.microsoft.com/office/drawing/2014/main" id="{CE76998A-1996-4043-8281-0D0331D738E1}"/>
              </a:ext>
            </a:extLst>
          </p:cNvPr>
          <p:cNvSpPr>
            <a:spLocks noGrp="1"/>
          </p:cNvSpPr>
          <p:nvPr/>
        </p:nvSpPr>
        <p:spPr>
          <a:xfrm>
            <a:off x="685800" y="3171825"/>
            <a:ext cx="32385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33D"/>
                </a:solidFill>
                <a:latin typeface="Arial"/>
                <a:ea typeface="Arial"/>
                <a:cs typeface="Arial"/>
              </a:rPr>
              <a:t>csn-solver</a:t>
            </a:r>
          </a:p>
          <a:p>
            <a: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33D"/>
                </a:solidFill>
                <a:latin typeface="Arial"/>
                <a:ea typeface="Arial"/>
                <a:cs typeface="Arial"/>
              </a:rPr>
              <a:t>Ubuntu 24.04</a:t>
            </a:r>
          </a:p>
          <a:p>
            <a:pPr>
              <a:defRPr sz="1800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33D"/>
                </a:solidFill>
                <a:latin typeface="Arial"/>
                <a:ea typeface="Arial"/>
                <a:cs typeface="Arial"/>
              </a:rPr>
              <a:t>Sweden Central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FF2500-029C-4479-A0B3-92B635FAA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0" y="2095500"/>
            <a:ext cx="5905500" cy="3810000"/>
          </a:xfrm>
          <a:prstGeom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60051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se-kicker">
            <a:extLst>
              <a:ext uri="{FF2B5EF4-FFF2-40B4-BE49-F238E27FC236}">
                <a16:creationId xmlns:a16="http://schemas.microsoft.com/office/drawing/2014/main" id="{661FF6E8-5C03-4111-86A0-14A33D17F3E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AFC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FC7FF"/>
                </a:solidFill>
                <a:latin typeface="Arial"/>
                <a:ea typeface="Arial"/>
                <a:cs typeface="Arial"/>
              </a:rPr>
              <a:t>PROJEKTA NEDĒĻAS REZULTĀTS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C656DD3F-484C-484B-A21A-2CE39511A98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28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Pārbaudāms</a:t>
            </a:r>
            <a:r>
              <a:rPr sz="32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digitāls</a:t>
            </a:r>
            <a:r>
              <a:rPr sz="32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prototips</a:t>
            </a:r>
            <a:endParaRPr sz="32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lose-summary">
            <a:extLst>
              <a:ext uri="{FF2B5EF4-FFF2-40B4-BE49-F238E27FC236}">
                <a16:creationId xmlns:a16="http://schemas.microsoft.com/office/drawing/2014/main" id="{D0706A0F-BC49-462D-B6FE-42F64689130D}"/>
              </a:ext>
            </a:extLst>
          </p:cNvPr>
          <p:cNvSpPr>
            <a:spLocks noGrp="1"/>
          </p:cNvSpPr>
          <p:nvPr/>
        </p:nvSpPr>
        <p:spPr>
          <a:xfrm>
            <a:off x="685800" y="2124075"/>
            <a:ext cx="9239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>
                <a:solidFill>
                  <a:srgbClr val="D8E2F3"/>
                </a:solidFill>
                <a:latin typeface="Arial"/>
                <a:ea typeface="Arial"/>
                <a:cs typeface="Arial"/>
              </a:defRPr>
            </a:pPr>
            <a:r>
              <a:rPr sz="1875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Vietne</a:t>
            </a:r>
            <a:r>
              <a:rPr sz="1875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apvieno</a:t>
            </a:r>
            <a:r>
              <a:rPr sz="1875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jautājumu</a:t>
            </a:r>
            <a:r>
              <a:rPr sz="1875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bibliotēku</a:t>
            </a:r>
            <a:r>
              <a:rPr sz="1875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, CSDD </a:t>
            </a:r>
            <a:r>
              <a:rPr sz="1875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pārbaudītas</a:t>
            </a:r>
            <a:r>
              <a:rPr sz="1875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atbildes</a:t>
            </a:r>
            <a:r>
              <a:rPr sz="1875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 un </a:t>
            </a:r>
            <a:r>
              <a:rPr sz="1875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pašpārbaudes</a:t>
            </a:r>
            <a:r>
              <a:rPr sz="1875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dirty="0" err="1">
                <a:solidFill>
                  <a:srgbClr val="D8E2F3"/>
                </a:solidFill>
                <a:latin typeface="Arial"/>
                <a:ea typeface="Arial"/>
                <a:cs typeface="Arial"/>
              </a:rPr>
              <a:t>režīmu</a:t>
            </a:r>
            <a:r>
              <a:rPr sz="1875" dirty="0">
                <a:solidFill>
                  <a:srgbClr val="D8E2F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close-title">
            <a:extLst>
              <a:ext uri="{FF2B5EF4-FFF2-40B4-BE49-F238E27FC236}">
                <a16:creationId xmlns:a16="http://schemas.microsoft.com/office/drawing/2014/main" id="{39962BE8-14AF-9698-CAA3-765F3D724E72}"/>
              </a:ext>
            </a:extLst>
          </p:cNvPr>
          <p:cNvSpPr>
            <a:spLocks noGrp="1"/>
          </p:cNvSpPr>
          <p:nvPr/>
        </p:nvSpPr>
        <p:spPr>
          <a:xfrm>
            <a:off x="685800" y="3924301"/>
            <a:ext cx="1028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dirty="0" err="1"/>
              <a:t>Paldies</a:t>
            </a:r>
            <a:r>
              <a:rPr lang="en-US" dirty="0"/>
              <a:t> par </a:t>
            </a:r>
            <a:r>
              <a:rPr lang="en-US" dirty="0" err="1"/>
              <a:t>uzmanību</a:t>
            </a:r>
            <a:r>
              <a:rPr lang="en-US" dirty="0"/>
              <a:t>!</a:t>
            </a:r>
            <a:endParaRPr sz="32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287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Macintosh PowerPoint</Application>
  <DocSecurity>0</DocSecurity>
  <PresentationFormat>Widescreen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Максим Дурихин</cp:lastModifiedBy>
  <cp:revision>2</cp:revision>
  <dcterms:created xsi:type="dcterms:W3CDTF">2026-10-22T11:52:32Z</dcterms:created>
  <dcterms:modified xsi:type="dcterms:W3CDTF">2026-10-22T18:34:47Z</dcterms:modified>
</cp:coreProperties>
</file>